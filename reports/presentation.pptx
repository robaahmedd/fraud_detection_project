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60" r:id="rId5"/>
    <p:sldId id="261" r:id="rId6"/>
    <p:sldId id="263" r:id="rId7"/>
    <p:sldId id="279" r:id="rId8"/>
    <p:sldId id="282" r:id="rId9"/>
    <p:sldId id="278" r:id="rId10"/>
    <p:sldId id="281" r:id="rId11"/>
    <p:sldId id="280" r:id="rId12"/>
    <p:sldId id="264" r:id="rId13"/>
    <p:sldId id="266" r:id="rId14"/>
    <p:sldId id="265" r:id="rId15"/>
    <p:sldId id="275" r:id="rId16"/>
    <p:sldId id="271" r:id="rId17"/>
    <p:sldId id="272" r:id="rId18"/>
    <p:sldId id="274" r:id="rId19"/>
    <p:sldId id="269" r:id="rId20"/>
    <p:sldId id="276" r:id="rId21"/>
    <p:sldId id="277" r:id="rId2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5620"/>
    <p:restoredTop sz="94660"/>
  </p:normalViewPr>
  <p:slideViewPr>
    <p:cSldViewPr>
      <p:cViewPr varScale="1">
        <p:scale>
          <a:sx n="51" d="100"/>
          <a:sy n="51" d="100"/>
        </p:scale>
        <p:origin x="-1704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685800"/>
            <a:ext cx="7772400" cy="221076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/>
              <a:t>Healthcare Provider Fraud Detection Using Machine Learning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505200"/>
            <a:ext cx="8077200" cy="1143000"/>
          </a:xfrm>
        </p:spPr>
        <p:txBody>
          <a:bodyPr/>
          <a:lstStyle/>
          <a:p>
            <a:pPr algn="ctr"/>
            <a:endParaRPr lang="en-US" sz="1800" dirty="0" smtClean="0"/>
          </a:p>
          <a:p>
            <a:pPr algn="ctr"/>
            <a:r>
              <a:rPr lang="en-US" sz="1800" dirty="0" smtClean="0"/>
              <a:t>Team: </a:t>
            </a:r>
            <a:r>
              <a:rPr lang="en-US" sz="1800" dirty="0" err="1" smtClean="0"/>
              <a:t>Roba</a:t>
            </a:r>
            <a:r>
              <a:rPr lang="en-US" sz="1800" dirty="0" smtClean="0"/>
              <a:t> Ahmed · </a:t>
            </a:r>
            <a:r>
              <a:rPr lang="en-US" sz="1800" dirty="0" err="1" smtClean="0"/>
              <a:t>Yahia</a:t>
            </a:r>
            <a:r>
              <a:rPr lang="en-US" sz="1800" dirty="0" smtClean="0"/>
              <a:t> </a:t>
            </a:r>
            <a:r>
              <a:rPr lang="en-US" sz="1800" dirty="0" err="1" smtClean="0"/>
              <a:t>Walid</a:t>
            </a:r>
            <a:r>
              <a:rPr lang="en-US" sz="1800" dirty="0" smtClean="0"/>
              <a:t> · </a:t>
            </a:r>
            <a:r>
              <a:rPr lang="en-US" sz="1800" dirty="0" err="1" smtClean="0"/>
              <a:t>Abdelrhman</a:t>
            </a:r>
            <a:r>
              <a:rPr lang="en-US" sz="1800" dirty="0" smtClean="0"/>
              <a:t> Shady · Ali Yasser 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512358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Healthcare fraud causes </a:t>
            </a:r>
            <a:r>
              <a:rPr lang="en-US" b="1" dirty="0"/>
              <a:t>$68+ billion</a:t>
            </a:r>
            <a:r>
              <a:rPr lang="en-US" dirty="0"/>
              <a:t> in yearly losses</a:t>
            </a:r>
          </a:p>
          <a:p>
            <a:r>
              <a:rPr lang="en-US" dirty="0"/>
              <a:t>Current detection uses </a:t>
            </a:r>
            <a:r>
              <a:rPr lang="en-US" b="1" dirty="0"/>
              <a:t>manual audits &amp; rule-based checks</a:t>
            </a:r>
            <a:endParaRPr lang="en-US" dirty="0"/>
          </a:p>
          <a:p>
            <a:r>
              <a:rPr lang="en-US" dirty="0"/>
              <a:t>These miss evolving and complex fraud patterns</a:t>
            </a:r>
          </a:p>
          <a:p>
            <a:r>
              <a:rPr lang="en-US" dirty="0"/>
              <a:t>Our goal is to build an </a:t>
            </a:r>
            <a:r>
              <a:rPr lang="en-US" b="1" dirty="0"/>
              <a:t>ML model</a:t>
            </a:r>
            <a:r>
              <a:rPr lang="en-US" dirty="0"/>
              <a:t> to detect fraudulent providers</a:t>
            </a:r>
          </a:p>
          <a:p>
            <a:r>
              <a:rPr lang="en-US" dirty="0"/>
              <a:t>Priority = </a:t>
            </a:r>
            <a:r>
              <a:rPr lang="en-US" b="1" dirty="0"/>
              <a:t>high </a:t>
            </a:r>
            <a:r>
              <a:rPr lang="en-US" b="1" dirty="0" smtClean="0"/>
              <a:t>recall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Main Problem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76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smtClean="0"/>
              <a:t>We used </a:t>
            </a:r>
            <a:r>
              <a:rPr lang="en-US" b="1" dirty="0" smtClean="0"/>
              <a:t>four datasets</a:t>
            </a:r>
            <a:r>
              <a:rPr lang="en-US" dirty="0" smtClean="0"/>
              <a:t>:</a:t>
            </a:r>
          </a:p>
          <a:p>
            <a:r>
              <a:rPr lang="en-US" dirty="0" smtClean="0"/>
              <a:t>Inpatient claims</a:t>
            </a:r>
          </a:p>
          <a:p>
            <a:r>
              <a:rPr lang="en-US" dirty="0" smtClean="0"/>
              <a:t>Outpatient claims</a:t>
            </a:r>
          </a:p>
          <a:p>
            <a:r>
              <a:rPr lang="en-US" dirty="0" smtClean="0"/>
              <a:t>Beneficiary info</a:t>
            </a:r>
          </a:p>
          <a:p>
            <a:r>
              <a:rPr lang="en-US" dirty="0" smtClean="0"/>
              <a:t>Provider fraud labels</a:t>
            </a:r>
          </a:p>
          <a:p>
            <a:pPr marL="109728" indent="0">
              <a:buNone/>
            </a:pPr>
            <a:endParaRPr lang="en-US" dirty="0" smtClean="0"/>
          </a:p>
          <a:p>
            <a:pPr marL="109728" indent="0">
              <a:buNone/>
            </a:pPr>
            <a:r>
              <a:rPr lang="en-US" dirty="0"/>
              <a:t>Challenges:</a:t>
            </a:r>
          </a:p>
          <a:p>
            <a:r>
              <a:rPr lang="en-US" dirty="0"/>
              <a:t>Strong class imbalance (</a:t>
            </a:r>
            <a:r>
              <a:rPr lang="en-US" dirty="0" smtClean="0"/>
              <a:t>Fraud </a:t>
            </a:r>
            <a:r>
              <a:rPr lang="en-US" dirty="0"/>
              <a:t>cases = only </a:t>
            </a:r>
            <a:r>
              <a:rPr lang="en-US" b="1" dirty="0"/>
              <a:t>9%</a:t>
            </a:r>
            <a:r>
              <a:rPr lang="en-US" dirty="0"/>
              <a:t> of </a:t>
            </a:r>
            <a:r>
              <a:rPr lang="en-US" dirty="0" smtClean="0"/>
              <a:t>providers)</a:t>
            </a:r>
          </a:p>
          <a:p>
            <a:r>
              <a:rPr lang="en-US" dirty="0" smtClean="0"/>
              <a:t>Claim-level </a:t>
            </a:r>
            <a:r>
              <a:rPr lang="en-US" dirty="0"/>
              <a:t>→ must aggregate to provider-level</a:t>
            </a:r>
          </a:p>
          <a:p>
            <a:r>
              <a:rPr lang="en-US" dirty="0"/>
              <a:t>Large number of features</a:t>
            </a:r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Dataset Overview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3114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95400"/>
            <a:ext cx="8229600" cy="5029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smtClean="0"/>
              <a:t>Steps performed:</a:t>
            </a:r>
          </a:p>
          <a:p>
            <a:r>
              <a:rPr lang="en-US" dirty="0" smtClean="0"/>
              <a:t>Cleaned missing values + standardized formats</a:t>
            </a:r>
          </a:p>
          <a:p>
            <a:r>
              <a:rPr lang="en-US" dirty="0" smtClean="0"/>
              <a:t>Merged all datasets using Provider ID</a:t>
            </a:r>
          </a:p>
          <a:p>
            <a:r>
              <a:rPr lang="en-US" dirty="0" smtClean="0"/>
              <a:t>Engineered provider-level features:</a:t>
            </a:r>
          </a:p>
          <a:p>
            <a:pPr lvl="1"/>
            <a:r>
              <a:rPr lang="en-US" dirty="0" smtClean="0"/>
              <a:t>Total claim counts</a:t>
            </a:r>
          </a:p>
          <a:p>
            <a:pPr lvl="1"/>
            <a:r>
              <a:rPr lang="en-US" dirty="0" smtClean="0"/>
              <a:t>Total reimbursement amounts</a:t>
            </a:r>
          </a:p>
          <a:p>
            <a:pPr lvl="1"/>
            <a:r>
              <a:rPr lang="en-US" dirty="0" smtClean="0"/>
              <a:t>Average claims per beneficiary</a:t>
            </a:r>
          </a:p>
          <a:p>
            <a:pPr lvl="1"/>
            <a:r>
              <a:rPr lang="en-US" dirty="0" smtClean="0"/>
              <a:t>Inpatient </a:t>
            </a:r>
            <a:r>
              <a:rPr lang="en-US" dirty="0" err="1" smtClean="0"/>
              <a:t>vs</a:t>
            </a:r>
            <a:r>
              <a:rPr lang="en-US" dirty="0" smtClean="0"/>
              <a:t> outpatient ratios</a:t>
            </a:r>
          </a:p>
          <a:p>
            <a:pPr lvl="1"/>
            <a:r>
              <a:rPr lang="en-US" dirty="0" smtClean="0"/>
              <a:t>Deceased beneficiary ratio</a:t>
            </a:r>
          </a:p>
          <a:p>
            <a:r>
              <a:rPr lang="en-US" dirty="0" smtClean="0"/>
              <a:t>Output: </a:t>
            </a:r>
            <a:r>
              <a:rPr lang="en-US" b="1" dirty="0" smtClean="0"/>
              <a:t>provider_level.csv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sz="3600" dirty="0" smtClean="0"/>
              <a:t>Data Preparation &amp; Feature Engineering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9177585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Fraud is the </a:t>
            </a:r>
            <a:r>
              <a:rPr lang="en-US" b="1" dirty="0"/>
              <a:t>minority class (~9%)</a:t>
            </a:r>
            <a:endParaRPr lang="en-US" dirty="0"/>
          </a:p>
          <a:p>
            <a:r>
              <a:rPr lang="en-US" dirty="0"/>
              <a:t>Without handling imbalance → model predicts “legit” for EVERY provider</a:t>
            </a:r>
          </a:p>
          <a:p>
            <a:r>
              <a:rPr lang="en-US" dirty="0"/>
              <a:t>Our solutions:</a:t>
            </a:r>
          </a:p>
          <a:p>
            <a:r>
              <a:rPr lang="en-US" dirty="0"/>
              <a:t>SMOTE oversampling</a:t>
            </a:r>
          </a:p>
          <a:p>
            <a:r>
              <a:rPr lang="en-US" dirty="0"/>
              <a:t>Class weights</a:t>
            </a:r>
          </a:p>
          <a:p>
            <a:pPr marL="109728" indent="0">
              <a:buNone/>
            </a:pPr>
            <a:r>
              <a:rPr lang="en-US" dirty="0" smtClean="0"/>
              <a:t>Ensures model learns fraud behavior properly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b="1" dirty="0" smtClean="0"/>
              <a:t>Handling Class Imbalance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66527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Models tested:</a:t>
            </a:r>
          </a:p>
          <a:p>
            <a:r>
              <a:rPr lang="en-US" dirty="0" smtClean="0"/>
              <a:t>Logistic Regression</a:t>
            </a:r>
          </a:p>
          <a:p>
            <a:r>
              <a:rPr lang="en-US" dirty="0" smtClean="0"/>
              <a:t>Random Forest</a:t>
            </a:r>
          </a:p>
          <a:p>
            <a:r>
              <a:rPr lang="en-US" dirty="0" smtClean="0"/>
              <a:t>Gradient Boosting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3276600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Evaluation metrics:</a:t>
            </a:r>
          </a:p>
          <a:p>
            <a:r>
              <a:rPr lang="en-US" dirty="0" smtClean="0"/>
              <a:t>Precision</a:t>
            </a:r>
          </a:p>
          <a:p>
            <a:r>
              <a:rPr lang="en-US" dirty="0" smtClean="0"/>
              <a:t>Recall</a:t>
            </a:r>
          </a:p>
          <a:p>
            <a:r>
              <a:rPr lang="en-US" dirty="0" smtClean="0"/>
              <a:t>F1-score</a:t>
            </a:r>
          </a:p>
          <a:p>
            <a:r>
              <a:rPr lang="en-US" dirty="0" smtClean="0"/>
              <a:t>ROC-AUC</a:t>
            </a:r>
          </a:p>
          <a:p>
            <a:r>
              <a:rPr lang="en-US" dirty="0" smtClean="0"/>
              <a:t>PR-AUC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Modeling Approach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81000" y="4724400"/>
            <a:ext cx="83058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Top 2 Models Before Tuning:</a:t>
            </a:r>
            <a:endParaRPr lang="en-US" sz="2800" dirty="0"/>
          </a:p>
          <a:p>
            <a:pPr algn="ctr"/>
            <a:r>
              <a:rPr lang="en-US" sz="2800" b="1" dirty="0"/>
              <a:t>Random Forest (Class Weight)</a:t>
            </a:r>
            <a:r>
              <a:rPr lang="en-US" sz="2800" dirty="0"/>
              <a:t> → Highest PR-AUC</a:t>
            </a:r>
          </a:p>
          <a:p>
            <a:pPr algn="ctr"/>
            <a:r>
              <a:rPr lang="en-US" sz="2800" b="1" dirty="0"/>
              <a:t>Random Forest (SMOTE)</a:t>
            </a:r>
            <a:r>
              <a:rPr lang="en-US" sz="2800" dirty="0"/>
              <a:t> → Highest Recall &amp; F1</a:t>
            </a:r>
          </a:p>
        </p:txBody>
      </p:sp>
    </p:spTree>
    <p:extLst>
      <p:ext uri="{BB962C8B-B14F-4D97-AF65-F5344CB8AC3E}">
        <p14:creationId xmlns:p14="http://schemas.microsoft.com/office/powerpoint/2010/main" val="646181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4788091"/>
          </a:xfrm>
        </p:spPr>
        <p:txBody>
          <a:bodyPr/>
          <a:lstStyle/>
          <a:p>
            <a:r>
              <a:rPr lang="en-US" dirty="0" smtClean="0"/>
              <a:t>The </a:t>
            </a:r>
            <a:r>
              <a:rPr lang="en-US" dirty="0"/>
              <a:t>top-performing model before tuning was Random Forest</a:t>
            </a:r>
          </a:p>
          <a:p>
            <a:r>
              <a:rPr lang="en-US" dirty="0"/>
              <a:t>Tuning helps:</a:t>
            </a:r>
            <a:br>
              <a:rPr lang="en-US" dirty="0"/>
            </a:br>
            <a:r>
              <a:rPr lang="en-US" dirty="0"/>
              <a:t>✔ Reduce false positives</a:t>
            </a:r>
            <a:br>
              <a:rPr lang="en-US" dirty="0"/>
            </a:br>
            <a:r>
              <a:rPr lang="en-US" dirty="0"/>
              <a:t>✔ Improve stability</a:t>
            </a:r>
            <a:br>
              <a:rPr lang="en-US" dirty="0"/>
            </a:br>
            <a:r>
              <a:rPr lang="en-US" dirty="0"/>
              <a:t>✔ Boost precision &amp; PR-AUC</a:t>
            </a:r>
          </a:p>
          <a:p>
            <a:r>
              <a:rPr lang="en-US" b="1" dirty="0"/>
              <a:t>Outcome</a:t>
            </a:r>
            <a:endParaRPr lang="en-US" dirty="0"/>
          </a:p>
          <a:p>
            <a:pPr lvl="1"/>
            <a:r>
              <a:rPr lang="en-US" dirty="0"/>
              <a:t>Fewer false alarms</a:t>
            </a:r>
          </a:p>
          <a:p>
            <a:pPr lvl="1"/>
            <a:r>
              <a:rPr lang="en-US" dirty="0"/>
              <a:t>Higher precision</a:t>
            </a:r>
          </a:p>
          <a:p>
            <a:pPr lvl="1"/>
            <a:r>
              <a:rPr lang="en-US" dirty="0"/>
              <a:t>Stronger fraud detection performance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92162"/>
          </a:xfrm>
        </p:spPr>
        <p:txBody>
          <a:bodyPr>
            <a:normAutofit/>
          </a:bodyPr>
          <a:lstStyle/>
          <a:p>
            <a:r>
              <a:rPr lang="en-US" sz="2800" dirty="0" err="1"/>
              <a:t>Hyperparameter</a:t>
            </a:r>
            <a:r>
              <a:rPr lang="en-US" sz="2800" dirty="0"/>
              <a:t> Tuning (</a:t>
            </a:r>
            <a:r>
              <a:rPr lang="en-US" sz="2800" dirty="0" err="1"/>
              <a:t>GridSearchCV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19563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Precision </a:t>
            </a:r>
            <a:r>
              <a:rPr lang="en-US" dirty="0"/>
              <a:t>≈ </a:t>
            </a:r>
            <a:r>
              <a:rPr lang="en-US" b="1" dirty="0"/>
              <a:t>0.58</a:t>
            </a:r>
            <a:endParaRPr lang="en-US" dirty="0"/>
          </a:p>
          <a:p>
            <a:r>
              <a:rPr lang="en-US" dirty="0"/>
              <a:t>Recall ≈ </a:t>
            </a:r>
            <a:r>
              <a:rPr lang="en-US" b="1" dirty="0"/>
              <a:t>0.73</a:t>
            </a:r>
            <a:endParaRPr lang="en-US" dirty="0"/>
          </a:p>
          <a:p>
            <a:r>
              <a:rPr lang="en-US" dirty="0"/>
              <a:t>F1 ≈ </a:t>
            </a:r>
            <a:r>
              <a:rPr lang="en-US" b="1" dirty="0"/>
              <a:t>0.65</a:t>
            </a:r>
            <a:endParaRPr lang="en-US" dirty="0"/>
          </a:p>
          <a:p>
            <a:r>
              <a:rPr lang="en-US" dirty="0"/>
              <a:t>ROC-AUC ≈ </a:t>
            </a:r>
            <a:r>
              <a:rPr lang="en-US" b="1" dirty="0"/>
              <a:t>0.90</a:t>
            </a:r>
            <a:endParaRPr lang="en-US" dirty="0"/>
          </a:p>
          <a:p>
            <a:r>
              <a:rPr lang="en-US" dirty="0"/>
              <a:t>PR-AUC ≈ </a:t>
            </a:r>
            <a:r>
              <a:rPr lang="en-US" b="1" dirty="0"/>
              <a:t>0.73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Results before tuning RF SMOTE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241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33400" y="18738"/>
            <a:ext cx="8229600" cy="1143000"/>
          </a:xfrm>
        </p:spPr>
        <p:txBody>
          <a:bodyPr/>
          <a:lstStyle/>
          <a:p>
            <a:r>
              <a:rPr lang="en-US" dirty="0"/>
              <a:t>Model Comparison Table</a:t>
            </a:r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7667715"/>
              </p:ext>
            </p:extLst>
          </p:nvPr>
        </p:nvGraphicFramePr>
        <p:xfrm>
          <a:off x="761999" y="990601"/>
          <a:ext cx="7543800" cy="5181598"/>
        </p:xfrm>
        <a:graphic>
          <a:graphicData uri="http://schemas.openxmlformats.org/drawingml/2006/table">
            <a:tbl>
              <a:tblPr/>
              <a:tblGrid>
                <a:gridCol w="1257300"/>
                <a:gridCol w="1257300"/>
                <a:gridCol w="1257300"/>
                <a:gridCol w="1257300"/>
                <a:gridCol w="1257300"/>
                <a:gridCol w="1257300"/>
              </a:tblGrid>
              <a:tr h="447790">
                <a:tc>
                  <a:txBody>
                    <a:bodyPr/>
                    <a:lstStyle/>
                    <a:p>
                      <a:r>
                        <a:rPr lang="en-US" sz="1100" b="1" dirty="0"/>
                        <a:t>Model Variant</a:t>
                      </a:r>
                      <a:endParaRPr lang="en-US" sz="1100" dirty="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Precision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Recall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F1-Score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ROC-AUC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PR-AUC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1614">
                <a:tc>
                  <a:txBody>
                    <a:bodyPr/>
                    <a:lstStyle/>
                    <a:p>
                      <a:r>
                        <a:rPr lang="en-US" sz="1100" b="1"/>
                        <a:t>Logistic Regression (Class Weight)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0.61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0.55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0.58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0.88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0.59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1614">
                <a:tc>
                  <a:txBody>
                    <a:bodyPr/>
                    <a:lstStyle/>
                    <a:p>
                      <a:r>
                        <a:rPr lang="en-US" sz="1100" b="1"/>
                        <a:t>Random Forest (Class Weight)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0.71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0.65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0.68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0.91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0.76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1614">
                <a:tc>
                  <a:txBody>
                    <a:bodyPr/>
                    <a:lstStyle/>
                    <a:p>
                      <a:r>
                        <a:rPr lang="en-US" sz="1100" b="1"/>
                        <a:t>Gradient Boosting (Class Weight)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0.67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0.58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0.62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0.89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0.64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23527">
                <a:tc>
                  <a:txBody>
                    <a:bodyPr/>
                    <a:lstStyle/>
                    <a:p>
                      <a:r>
                        <a:rPr lang="en-US" sz="1100" b="1"/>
                        <a:t>Random Forest + SMOTE (Before Tuning)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0.58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0.73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0.65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0.90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0.73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15439">
                <a:tc>
                  <a:txBody>
                    <a:bodyPr/>
                    <a:lstStyle/>
                    <a:p>
                      <a:r>
                        <a:rPr lang="en-US" sz="1100" b="1"/>
                        <a:t>Random Forest + SMOTE (Tuned – Final Model)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0.50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0.67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0.58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0.922</a:t>
                      </a:r>
                      <a:endParaRPr lang="en-US" sz="1100" dirty="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0.627</a:t>
                      </a:r>
                      <a:endParaRPr lang="en-US" sz="1100" dirty="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111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Final Best Model → Random Forest + SMOTE (Tuned)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Strongest </a:t>
            </a:r>
            <a:r>
              <a:rPr lang="en-US" i="1" dirty="0"/>
              <a:t>overall fraud-detection performance</a:t>
            </a:r>
            <a:r>
              <a:rPr lang="en-US" dirty="0"/>
              <a:t> after tuning, and selected as the final model.</a:t>
            </a:r>
          </a:p>
          <a:p>
            <a:r>
              <a:rPr lang="en-US" b="1" dirty="0"/>
              <a:t>Best Recall (Before Tuning) → Random Forest + SMOTE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Highest ability to catch fraud (primary project objective).</a:t>
            </a:r>
          </a:p>
          <a:p>
            <a:r>
              <a:rPr lang="en-US" b="1" dirty="0"/>
              <a:t>Best Precision / PR-AUC (</a:t>
            </a:r>
            <a:r>
              <a:rPr lang="en-US" b="1" dirty="0" err="1"/>
              <a:t>Untuned</a:t>
            </a:r>
            <a:r>
              <a:rPr lang="en-US" b="1" dirty="0"/>
              <a:t>) → Random Forest (Class Weight)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Strong discrimination, lowest false alarms.</a:t>
            </a: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Key insights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6645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90872"/>
          </a:xfrm>
        </p:spPr>
        <p:txBody>
          <a:bodyPr>
            <a:normAutofit fontScale="92500"/>
          </a:bodyPr>
          <a:lstStyle/>
          <a:p>
            <a:r>
              <a:rPr lang="en-US" dirty="0"/>
              <a:t>Selected Best Model:</a:t>
            </a:r>
            <a:br>
              <a:rPr lang="en-US" dirty="0"/>
            </a:br>
            <a:r>
              <a:rPr lang="en-US" dirty="0"/>
              <a:t>➡ </a:t>
            </a:r>
            <a:r>
              <a:rPr lang="en-US" b="1" dirty="0" err="1"/>
              <a:t>RF_tuned</a:t>
            </a:r>
            <a:r>
              <a:rPr lang="en-US" dirty="0"/>
              <a:t> (Random Forest with optimized </a:t>
            </a:r>
            <a:r>
              <a:rPr lang="en-US" dirty="0" err="1"/>
              <a:t>hyperparameters</a:t>
            </a:r>
            <a:r>
              <a:rPr lang="en-US" dirty="0"/>
              <a:t>)</a:t>
            </a:r>
          </a:p>
          <a:p>
            <a:r>
              <a:rPr lang="en-US" dirty="0"/>
              <a:t>Why</a:t>
            </a:r>
            <a:r>
              <a:rPr lang="en-US" b="1" dirty="0"/>
              <a:t> </a:t>
            </a:r>
            <a:r>
              <a:rPr lang="en-US" dirty="0" err="1"/>
              <a:t>RF_tuned</a:t>
            </a:r>
            <a:r>
              <a:rPr lang="en-US" b="1" dirty="0"/>
              <a:t> was chosen:</a:t>
            </a:r>
            <a:endParaRPr lang="en-US" dirty="0"/>
          </a:p>
          <a:p>
            <a:r>
              <a:rPr lang="en-US" b="1" dirty="0"/>
              <a:t>Best Precision</a:t>
            </a:r>
            <a:r>
              <a:rPr lang="en-US" dirty="0"/>
              <a:t> → reduces unnecessary audits</a:t>
            </a:r>
          </a:p>
          <a:p>
            <a:r>
              <a:rPr lang="en-US" b="1" dirty="0"/>
              <a:t>High Recall</a:t>
            </a:r>
            <a:r>
              <a:rPr lang="en-US" dirty="0"/>
              <a:t> → catches most fraudulent providers</a:t>
            </a:r>
          </a:p>
          <a:p>
            <a:r>
              <a:rPr lang="en-US" b="1" dirty="0"/>
              <a:t>Strongest PR-AUC</a:t>
            </a:r>
            <a:r>
              <a:rPr lang="en-US" dirty="0"/>
              <a:t> → best for imbalanced datasets</a:t>
            </a:r>
          </a:p>
          <a:p>
            <a:r>
              <a:rPr lang="en-US" b="1" dirty="0"/>
              <a:t>Robust ROC-AUC</a:t>
            </a:r>
            <a:endParaRPr lang="en-US" dirty="0"/>
          </a:p>
          <a:p>
            <a:r>
              <a:rPr lang="en-US" b="1" dirty="0"/>
              <a:t>Significantly fewer False Positives</a:t>
            </a:r>
            <a:r>
              <a:rPr lang="en-US" dirty="0"/>
              <a:t> after tuning</a:t>
            </a:r>
          </a:p>
          <a:p>
            <a:r>
              <a:rPr lang="en-US" dirty="0"/>
              <a:t>Model saved as: </a:t>
            </a:r>
            <a:r>
              <a:rPr lang="en-US" b="1" dirty="0" err="1"/>
              <a:t>best_model.pkl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Best Model: </a:t>
            </a:r>
            <a:r>
              <a:rPr lang="en-US" dirty="0" err="1"/>
              <a:t>RF_tuned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101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643863"/>
              </p:ext>
            </p:extLst>
          </p:nvPr>
        </p:nvGraphicFramePr>
        <p:xfrm>
          <a:off x="457200" y="1143000"/>
          <a:ext cx="8229600" cy="3505201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Accuracy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0.910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Precision (Fraud)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0.500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Recall (Fraud)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0.670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F1-score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0.580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ROC-AUC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0.922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PR-AUC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0.627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>
            <a:normAutofit/>
          </a:bodyPr>
          <a:lstStyle/>
          <a:p>
            <a:r>
              <a:rPr lang="en-US" dirty="0" smtClean="0"/>
              <a:t>Final Results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04800" y="4552174"/>
            <a:ext cx="8001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Interpretation: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Higher Recall → detects more fraudulent </a:t>
            </a:r>
            <a:r>
              <a:rPr lang="en-US" dirty="0" smtClean="0"/>
              <a:t>providers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Moderate </a:t>
            </a:r>
            <a:r>
              <a:rPr lang="en-US" dirty="0"/>
              <a:t>Precision → acceptable for fraud </a:t>
            </a:r>
            <a:r>
              <a:rPr lang="en-US" dirty="0" smtClean="0"/>
              <a:t>investigations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High </a:t>
            </a:r>
            <a:r>
              <a:rPr lang="en-US" dirty="0"/>
              <a:t>ROC-AUC (0.922) → strong separation between fraud and </a:t>
            </a:r>
            <a:r>
              <a:rPr lang="en-US" dirty="0" smtClean="0"/>
              <a:t>non-fraud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PR-AUC </a:t>
            </a:r>
            <a:r>
              <a:rPr lang="en-US" dirty="0"/>
              <a:t>= 0.627 → strong performance for rare-event (9%) fraud detection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737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4525963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A confusion matrix shows how many predictions our model got right and wrong, split into four categories:</a:t>
            </a:r>
          </a:p>
          <a:p>
            <a:r>
              <a:rPr lang="en-US" b="1" dirty="0" smtClean="0"/>
              <a:t>True Positives (TP):</a:t>
            </a:r>
            <a:r>
              <a:rPr lang="en-US" dirty="0" smtClean="0"/>
              <a:t> Fraud cases the model correctly detected</a:t>
            </a:r>
          </a:p>
          <a:p>
            <a:r>
              <a:rPr lang="en-US" b="1" dirty="0" smtClean="0"/>
              <a:t>False Positives (FP):</a:t>
            </a:r>
            <a:r>
              <a:rPr lang="en-US" dirty="0" smtClean="0"/>
              <a:t> Legitimate providers incorrectly flagged as fraud</a:t>
            </a:r>
          </a:p>
          <a:p>
            <a:r>
              <a:rPr lang="en-US" b="1" dirty="0" smtClean="0"/>
              <a:t>False Negatives (FN):</a:t>
            </a:r>
            <a:r>
              <a:rPr lang="en-US" dirty="0" smtClean="0"/>
              <a:t> Fraud cases the model missed</a:t>
            </a:r>
          </a:p>
          <a:p>
            <a:r>
              <a:rPr lang="en-US" b="1" dirty="0" smtClean="0"/>
              <a:t>True Negatives (TN):</a:t>
            </a:r>
            <a:r>
              <a:rPr lang="en-US" dirty="0" smtClean="0"/>
              <a:t> Legit providers correctly identified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868362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Confusion Matrix</a:t>
            </a:r>
            <a:br>
              <a:rPr lang="en-US" b="1" dirty="0" smtClean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858691"/>
      </p:ext>
    </p:extLst>
  </p:cSld>
  <p:clrMapOvr>
    <a:masterClrMapping/>
  </p:clrMapOvr>
  <p:transition spd="slow">
    <p:pull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confusion matrix helps us understand </a:t>
            </a:r>
            <a:r>
              <a:rPr lang="en-US" i="1" dirty="0"/>
              <a:t>exactly</a:t>
            </a:r>
            <a:r>
              <a:rPr lang="en-US" dirty="0"/>
              <a:t> where the model makes mistakes</a:t>
            </a:r>
            <a:r>
              <a:rPr lang="en-US" dirty="0" smtClean="0"/>
              <a:t>.</a:t>
            </a:r>
            <a:endParaRPr lang="en-US" b="1" dirty="0" smtClean="0"/>
          </a:p>
          <a:p>
            <a:pPr marL="0" indent="0">
              <a:buNone/>
            </a:pPr>
            <a:endParaRPr lang="en-US" b="1" dirty="0" smtClean="0"/>
          </a:p>
          <a:p>
            <a:pPr marL="0" indent="0">
              <a:buNone/>
            </a:pPr>
            <a:r>
              <a:rPr lang="en-US" b="1" dirty="0" smtClean="0"/>
              <a:t>Results:</a:t>
            </a:r>
            <a:endParaRPr lang="en-US" dirty="0" smtClean="0"/>
          </a:p>
          <a:p>
            <a:r>
              <a:rPr lang="en-US" dirty="0" smtClean="0"/>
              <a:t>True Positives: </a:t>
            </a:r>
            <a:r>
              <a:rPr lang="en-US" b="1" dirty="0" smtClean="0"/>
              <a:t>68</a:t>
            </a:r>
            <a:endParaRPr lang="en-US" dirty="0" smtClean="0"/>
          </a:p>
          <a:p>
            <a:r>
              <a:rPr lang="en-US" dirty="0" smtClean="0"/>
              <a:t>False Negatives: </a:t>
            </a:r>
            <a:r>
              <a:rPr lang="en-US" b="1" dirty="0" smtClean="0"/>
              <a:t>33</a:t>
            </a:r>
            <a:endParaRPr lang="en-US" dirty="0" smtClean="0"/>
          </a:p>
          <a:p>
            <a:r>
              <a:rPr lang="en-US" dirty="0" smtClean="0"/>
              <a:t>False Positives: </a:t>
            </a:r>
            <a:r>
              <a:rPr lang="en-US" b="1" dirty="0" smtClean="0"/>
              <a:t>67</a:t>
            </a:r>
            <a:endParaRPr lang="en-US" dirty="0" smtClean="0"/>
          </a:p>
          <a:p>
            <a:r>
              <a:rPr lang="en-US" dirty="0" smtClean="0"/>
              <a:t>True Negatives: </a:t>
            </a:r>
            <a:r>
              <a:rPr lang="en-US" b="1" dirty="0" smtClean="0"/>
              <a:t>912</a:t>
            </a:r>
            <a:endParaRPr lang="en-US" dirty="0" smtClean="0"/>
          </a:p>
          <a:p>
            <a:pPr marL="109728" indent="0">
              <a:buNone/>
            </a:pP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 smtClean="0"/>
              <a:t>Confusion Matrix Results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4809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32657"/>
            <a:ext cx="5676900" cy="441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4397601"/>
            <a:ext cx="4473575" cy="1958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6057456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Plots True Positive Rate (Recall) </a:t>
            </a:r>
            <a:r>
              <a:rPr lang="en-US" dirty="0" err="1"/>
              <a:t>vs</a:t>
            </a:r>
            <a:r>
              <a:rPr lang="en-US" dirty="0"/>
              <a:t> False Positive Rate”</a:t>
            </a:r>
          </a:p>
          <a:p>
            <a:r>
              <a:rPr lang="en-US" dirty="0" smtClean="0"/>
              <a:t>Used </a:t>
            </a:r>
            <a:r>
              <a:rPr lang="en-US" dirty="0"/>
              <a:t>to evaluate how well the model separates fraud from non-fraud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dirty="0" smtClean="0"/>
              <a:t>ROC-AUC </a:t>
            </a:r>
            <a:r>
              <a:rPr lang="en-US" dirty="0"/>
              <a:t>= </a:t>
            </a:r>
            <a:r>
              <a:rPr lang="en-US" b="1" dirty="0" smtClean="0"/>
              <a:t>0.922</a:t>
            </a:r>
            <a:r>
              <a:rPr lang="en-US" dirty="0" smtClean="0"/>
              <a:t> </a:t>
            </a:r>
            <a:r>
              <a:rPr lang="en-US" dirty="0"/>
              <a:t>(excellent)</a:t>
            </a:r>
          </a:p>
          <a:p>
            <a:pPr marL="109728" indent="0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ROC Curve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028571"/>
      </p:ext>
    </p:extLst>
  </p:cSld>
  <p:clrMapOvr>
    <a:masterClrMapping/>
  </p:clrMapOvr>
  <p:transition spd="slow">
    <p:pull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Focuses </a:t>
            </a:r>
            <a:r>
              <a:rPr lang="en-US" dirty="0"/>
              <a:t>on minority class</a:t>
            </a:r>
          </a:p>
          <a:p>
            <a:r>
              <a:rPr lang="en-US" dirty="0"/>
              <a:t>Important for imbalanced datasets</a:t>
            </a:r>
          </a:p>
          <a:p>
            <a:r>
              <a:rPr lang="en-US" dirty="0"/>
              <a:t>PR-AUC </a:t>
            </a:r>
            <a:r>
              <a:rPr lang="en-US"/>
              <a:t>= </a:t>
            </a:r>
            <a:r>
              <a:rPr lang="en-US" b="1" smtClean="0"/>
              <a:t>0.627</a:t>
            </a:r>
            <a:endParaRPr lang="en-US" dirty="0"/>
          </a:p>
          <a:p>
            <a:r>
              <a:rPr lang="en-US" dirty="0"/>
              <a:t>Measures Precision </a:t>
            </a:r>
            <a:r>
              <a:rPr lang="en-US" dirty="0" err="1"/>
              <a:t>vs</a:t>
            </a:r>
            <a:r>
              <a:rPr lang="en-US" dirty="0"/>
              <a:t> </a:t>
            </a:r>
            <a:r>
              <a:rPr lang="en-US" dirty="0" smtClean="0"/>
              <a:t>Recall</a:t>
            </a:r>
          </a:p>
          <a:p>
            <a:pPr marL="109728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Precision–Recall (PR) Curve </a:t>
            </a:r>
          </a:p>
        </p:txBody>
      </p:sp>
    </p:spTree>
    <p:extLst>
      <p:ext uri="{BB962C8B-B14F-4D97-AF65-F5344CB8AC3E}">
        <p14:creationId xmlns:p14="http://schemas.microsoft.com/office/powerpoint/2010/main" val="406891645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&amp; PR Curves Results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/>
        <p:txBody>
          <a:bodyPr/>
          <a:lstStyle/>
          <a:p>
            <a:pPr marL="109728" indent="0">
              <a:buNone/>
            </a:pPr>
            <a:r>
              <a:rPr lang="en-US" b="1" dirty="0"/>
              <a:t>ROC-AUC = </a:t>
            </a:r>
            <a:r>
              <a:rPr lang="en-US" b="1" dirty="0" smtClean="0"/>
              <a:t>0.922</a:t>
            </a:r>
            <a:endParaRPr lang="en-US" b="1" dirty="0"/>
          </a:p>
          <a:p>
            <a:r>
              <a:rPr lang="en-US" dirty="0" smtClean="0"/>
              <a:t>Excellent </a:t>
            </a:r>
            <a:r>
              <a:rPr lang="en-US" dirty="0"/>
              <a:t>class </a:t>
            </a:r>
            <a:r>
              <a:rPr lang="en-US" dirty="0" smtClean="0"/>
              <a:t>separation</a:t>
            </a:r>
            <a:endParaRPr lang="en-US" dirty="0"/>
          </a:p>
          <a:p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5"/>
            <a:ext cx="4041775" cy="1375106"/>
          </a:xfrm>
        </p:spPr>
        <p:txBody>
          <a:bodyPr/>
          <a:lstStyle/>
          <a:p>
            <a:pPr marL="109728" indent="0">
              <a:buNone/>
            </a:pPr>
            <a:r>
              <a:rPr lang="en-US" b="1" dirty="0"/>
              <a:t>PR-AUC = </a:t>
            </a:r>
            <a:r>
              <a:rPr lang="en-US" b="1" dirty="0" smtClean="0"/>
              <a:t>0.637</a:t>
            </a:r>
          </a:p>
          <a:p>
            <a:pPr marL="109728" indent="0">
              <a:buNone/>
            </a:pPr>
            <a:r>
              <a:rPr lang="en-US" dirty="0" smtClean="0"/>
              <a:t>Shows </a:t>
            </a:r>
            <a:r>
              <a:rPr lang="en-US" dirty="0"/>
              <a:t>model handles rare fraud cases well</a:t>
            </a:r>
          </a:p>
          <a:p>
            <a:pPr marL="109728" indent="0">
              <a:buNone/>
            </a:pPr>
            <a:endParaRPr lang="en-US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2725573"/>
            <a:ext cx="4343400" cy="3152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787" y="2736459"/>
            <a:ext cx="4215498" cy="3063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45318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smtClean="0"/>
              <a:t>False Positives (Legit flagged as fraud):</a:t>
            </a:r>
            <a:endParaRPr lang="en-US" dirty="0" smtClean="0"/>
          </a:p>
          <a:p>
            <a:r>
              <a:rPr lang="en-US" dirty="0" smtClean="0"/>
              <a:t>High billing volume</a:t>
            </a:r>
          </a:p>
          <a:p>
            <a:r>
              <a:rPr lang="en-US" dirty="0" smtClean="0"/>
              <a:t>Aggressive reimbursement patterns</a:t>
            </a:r>
          </a:p>
          <a:p>
            <a:r>
              <a:rPr lang="en-US" dirty="0" smtClean="0"/>
              <a:t>Similar to known fraud behavior</a:t>
            </a:r>
          </a:p>
          <a:p>
            <a:pPr marL="0" indent="0">
              <a:buNone/>
            </a:pPr>
            <a:r>
              <a:rPr lang="en-US" b="1" dirty="0" smtClean="0"/>
              <a:t>False Negatives (Fraud missed):</a:t>
            </a:r>
            <a:endParaRPr lang="en-US" dirty="0" smtClean="0"/>
          </a:p>
          <a:p>
            <a:r>
              <a:rPr lang="en-US" dirty="0" smtClean="0"/>
              <a:t>Low activity providers</a:t>
            </a:r>
          </a:p>
          <a:p>
            <a:r>
              <a:rPr lang="en-US" dirty="0" smtClean="0"/>
              <a:t>Subtle fraud signals</a:t>
            </a:r>
          </a:p>
          <a:p>
            <a:r>
              <a:rPr lang="en-US" dirty="0" smtClean="0"/>
              <a:t>Hard to detect without anomaly-based methods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Error 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9257533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detects majority of fraud cases </a:t>
            </a:r>
          </a:p>
          <a:p>
            <a:r>
              <a:rPr lang="en-US" dirty="0"/>
              <a:t>ROC-AUC = </a:t>
            </a:r>
            <a:r>
              <a:rPr lang="en-US" b="1" dirty="0" smtClean="0"/>
              <a:t>0.922</a:t>
            </a:r>
            <a:r>
              <a:rPr lang="en-US" dirty="0" smtClean="0"/>
              <a:t> </a:t>
            </a:r>
            <a:r>
              <a:rPr lang="en-US" dirty="0"/>
              <a:t>→ high </a:t>
            </a:r>
            <a:r>
              <a:rPr lang="en-US" dirty="0" smtClean="0"/>
              <a:t>discrimination</a:t>
            </a:r>
          </a:p>
          <a:p>
            <a:r>
              <a:rPr lang="es-ES" dirty="0" err="1" smtClean="0"/>
              <a:t>Model</a:t>
            </a:r>
            <a:r>
              <a:rPr lang="es-ES" dirty="0" smtClean="0"/>
              <a:t> </a:t>
            </a:r>
            <a:r>
              <a:rPr lang="es-ES" dirty="0" err="1"/>
              <a:t>Recall</a:t>
            </a:r>
            <a:r>
              <a:rPr lang="es-ES" dirty="0"/>
              <a:t> = </a:t>
            </a:r>
            <a:r>
              <a:rPr lang="es-ES" b="1" dirty="0" smtClean="0"/>
              <a:t>0.673</a:t>
            </a:r>
            <a:endParaRPr lang="es-ES" dirty="0"/>
          </a:p>
          <a:p>
            <a:r>
              <a:rPr lang="es-ES" dirty="0" smtClean="0"/>
              <a:t>PR-AUC </a:t>
            </a:r>
            <a:r>
              <a:rPr lang="es-ES" dirty="0"/>
              <a:t>= </a:t>
            </a:r>
            <a:r>
              <a:rPr lang="es-ES" b="1" dirty="0" smtClean="0"/>
              <a:t>0.627</a:t>
            </a:r>
            <a:endParaRPr lang="en-US" dirty="0"/>
          </a:p>
          <a:p>
            <a:r>
              <a:rPr lang="en-US" dirty="0"/>
              <a:t>Helps CMS save time and money</a:t>
            </a:r>
          </a:p>
          <a:p>
            <a:r>
              <a:rPr lang="en-US" dirty="0"/>
              <a:t>Reduces manual audits</a:t>
            </a:r>
          </a:p>
          <a:p>
            <a:r>
              <a:rPr lang="en-US" dirty="0"/>
              <a:t>Future work: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 smtClean="0"/>
              <a:t>Specialty-based </a:t>
            </a:r>
            <a:r>
              <a:rPr lang="en-US" dirty="0"/>
              <a:t>models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/>
              <a:t>Anomaly detection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/>
              <a:t>Real-time fraud scoring API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Business Impact</a:t>
            </a:r>
          </a:p>
        </p:txBody>
      </p:sp>
    </p:spTree>
    <p:extLst>
      <p:ext uri="{BB962C8B-B14F-4D97-AF65-F5344CB8AC3E}">
        <p14:creationId xmlns:p14="http://schemas.microsoft.com/office/powerpoint/2010/main" val="30030816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2438400"/>
            <a:ext cx="8229600" cy="1143000"/>
          </a:xfrm>
        </p:spPr>
        <p:txBody>
          <a:bodyPr>
            <a:noAutofit/>
          </a:bodyPr>
          <a:lstStyle/>
          <a:p>
            <a:pPr algn="ctr"/>
            <a:r>
              <a:rPr lang="en-US" sz="6600" dirty="0" smtClean="0"/>
              <a:t>Thank you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506854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4459</TotalTime>
  <Words>673</Words>
  <Application>Microsoft Office PowerPoint</Application>
  <PresentationFormat>On-screen Show (4:3)</PresentationFormat>
  <Paragraphs>184</Paragraphs>
  <Slides>21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Concourse</vt:lpstr>
      <vt:lpstr>Healthcare Provider Fraud Detection Using Machine Learning</vt:lpstr>
      <vt:lpstr>Main Problem </vt:lpstr>
      <vt:lpstr>Dataset Overview</vt:lpstr>
      <vt:lpstr>Data Preparation &amp; Feature Engineering</vt:lpstr>
      <vt:lpstr>Handling Class Imbalance</vt:lpstr>
      <vt:lpstr>Modeling Approach</vt:lpstr>
      <vt:lpstr>Hyperparameter Tuning (GridSearchCV)</vt:lpstr>
      <vt:lpstr>Results before tuning RF SMOTE</vt:lpstr>
      <vt:lpstr>Model Comparison Table</vt:lpstr>
      <vt:lpstr>Key insights</vt:lpstr>
      <vt:lpstr>Final Best Model: RF_tuned</vt:lpstr>
      <vt:lpstr>Final Results</vt:lpstr>
      <vt:lpstr>Confusion Matrix </vt:lpstr>
      <vt:lpstr>Confusion Matrix Results</vt:lpstr>
      <vt:lpstr>PowerPoint Presentation</vt:lpstr>
      <vt:lpstr>ROC Curve</vt:lpstr>
      <vt:lpstr>Precision–Recall (PR) Curve </vt:lpstr>
      <vt:lpstr>ROC &amp; PR Curves Results</vt:lpstr>
      <vt:lpstr>Error Analysis</vt:lpstr>
      <vt:lpstr>Conclusion &amp; Business Impact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Provider Fraud Detection Using Machine Learning</dc:title>
  <dc:creator>HP</dc:creator>
  <cp:lastModifiedBy>HP</cp:lastModifiedBy>
  <cp:revision>28</cp:revision>
  <dcterms:created xsi:type="dcterms:W3CDTF">2025-11-29T16:00:37Z</dcterms:created>
  <dcterms:modified xsi:type="dcterms:W3CDTF">2025-12-03T18:27:17Z</dcterms:modified>
</cp:coreProperties>
</file>